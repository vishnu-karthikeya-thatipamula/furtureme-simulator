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Heebo" pitchFamily="2" charset="-79"/>
      <p:regular r:id="rId13"/>
    </p:embeddedFont>
    <p:embeddedFont>
      <p:font typeface="Heebo Light" pitchFamily="2" charset="-79"/>
      <p:regular r:id="rId14"/>
    </p:embeddedFont>
    <p:embeddedFont>
      <p:font typeface="Heebo Medium" pitchFamily="2" charset="-79"/>
      <p:regular r:id="rId15"/>
    </p:embeddedFont>
    <p:embeddedFont>
      <p:font typeface="Heebo SemiBold" panose="020B0604020202020204" charset="-79"/>
      <p:regular r:id="rId16"/>
    </p:embeddedFont>
    <p:embeddedFont>
      <p:font typeface="Montserrat Medium" panose="00000600000000000000" pitchFamily="2" charset="0"/>
      <p:regular r:id="rId17"/>
    </p:embeddedFont>
    <p:embeddedFont>
      <p:font typeface="Montserrat SemiBold" panose="00000700000000000000" pitchFamily="2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11"/>
    <a:srgbClr val="15021D"/>
    <a:srgbClr val="120A0E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8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9:53:36.93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9:52:34.71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323 365 24575,'25'-1'0,"1"-2"0,-1-1 0,0-1 0,27-9 0,-26 6 0,-1 2 0,1 1 0,49-4 0,-37 9 0,1 0 0,67-8 0,-84 4 0,-3 1 0,-45 2 0,-591 2 0,593 0 0,-45 8 0,25-2 0,4 2 0,38-8 0,0-1 0,0 1 0,-1 0 0,1 0 0,0 0 0,1 0 0,-1 0 0,0 0 0,0 1 0,0-1 0,1 1 0,-1-1 0,0 1 0,1 0 0,-2 1 0,3-2 0,0-1 0,0 0 0,0 1 0,0-1 0,-1 0 0,1 0 0,0 1 0,0-1 0,0 0 0,0 1 0,0-1 0,0 0 0,0 0 0,0 1 0,0-1 0,1 0 0,-1 1 0,0-1 0,0 0 0,0 0 0,0 1 0,0-1 0,0 0 0,0 0 0,1 1 0,-1-1 0,0 0 0,0 0 0,0 1 0,1-1 0,-1 0 0,0 0 0,1 1 0,12 3 0,16-1 0,-29-3 0,22-1 0,1-1 0,0 0 0,41-11 0,65-28 0,-37 10 0,-66 26 0,0 1 0,0 1 0,1 1 0,-1 1 0,37 4 0,-3-1 0,39-3 0,77 3 0,-45 15 0,-115-14 0,11 3 0,0 1 0,-1 2 0,0 0 0,35 19 0,-48-20 0,-1-1 0,0 2 0,18 15 0,-22-16 0,1-1 0,0 0 0,1 0 0,-1-1 0,1 0 0,1-1 0,11 5 0,1-5 0,0 0 0,0-2 0,0-1 0,0-1 0,1-1 0,25-3 0,9 1 0,-23 2 0,8 0 0,61-9 0,-89 7 0,0-1 0,-1-1 0,0 0 0,1-1 0,-2 0 0,1-2 0,-1 1 0,13-10 0,4-2 0,1 0 0,56-23 0,-69 33 0,0-2 0,20-13 0,-2 0 0,-28 19 0,-1 0 0,1 0 0,0 1 0,1 0 0,12-4 0,-6 1 0,-15 6 0,0 0 0,0 0 0,0 0 0,1-1 0,-1 1 0,0 0 0,0 0 0,0 0 0,0-1 0,0 1 0,0 0 0,0 0 0,0-1 0,0 1 0,0 0 0,0 0 0,0-1 0,0 1 0,0 0 0,0 0 0,0-1 0,0 1 0,0 0 0,0 0 0,0 0 0,0-1 0,0 1 0,0 0 0,0 0 0,0-1 0,-1 1 0,1 0 0,-2-2 0,0 0 0,0 0 0,0 1 0,0-1 0,-1 1 0,1-1 0,0 1 0,-1 0 0,-3-1 0,-47-15 0,-1 4 0,0 1 0,-71-6 0,67 11 0,-243-23 0,-115-19 0,370 40 0,-2 2 0,-51-1 0,153 23 0,45 2 0,129 5 0,-157-20 0,0-4 0,117-16 0,-178 16 0,1 0 0,-1-1 0,0 0 0,0 0 0,0-1 0,-1-1 0,0 1 0,1-2 0,14-10 0,-23 15 0,-1 1 0,0 0 0,0 0 0,1 0 0,-1 0 0,0 0 0,1 0 0,-1-1 0,0 1 0,0 0 0,1 0 0,-1 0 0,0-1 0,0 1 0,0 0 0,1 0 0,-1 0 0,0-1 0,0 1 0,0 0 0,0-1 0,0 1 0,1 0 0,-1 0 0,0-1 0,0 1 0,0 0 0,0-1 0,0 1 0,0 0 0,0 0 0,0-1 0,0 1 0,0 0 0,0-1 0,0 1 0,0 0 0,-1-1 0,1 1 0,0 0 0,0 0 0,0-1 0,0 1 0,0 0 0,-1 0 0,1-1 0,0 1 0,-18-3 0,-5 5 0,0 1 0,1 1 0,-1 1 0,-23 9 0,-13 2 0,-51 12 0,-180 42 0,213-57 0,66-8 0,27-1 0,171 5 0,-50-5 0,-61 1 0,260 21 0,-254-15 0,-1 3 0,85 26 0,-134-28 0,0 1 0,-1 1 0,46 28 0,-51-27 0,26 17 0,-48-30 0,0 0 0,0 0 0,0 0 0,1 0 0,-1-1 0,1 0 0,-1 0 0,9 1 0,27 0 0,-38-2 0,-110 18 0,19-2 0,66-12 0,0 1 0,0 2 0,-40 15 0,60-21 0,-35 12 0,-1-2 0,-56 7 0,-25 7 0,66-12 0,-1-3 0,-1-3 0,0-2 0,0-2 0,-75-6 0,46-5 0,-36-2 0,-895 11 0,990 1 0,0 1 0,1 1 0,-35 10 0,19-5 0,10-1 0,16-4 0,1-1 0,-25 3 0,128-11 0,237-9 0,-293 12 0,1-1 0,0-2 0,-1-2 0,38-11 0,-30 6 0,79-10 0,-80 20 0,0 2 0,69 10 0,-57-5 0,3 0 0,108-6 0,-128-4 0,61-17 0,-76 17 0,210-63 0,-207 64 0,0 1 0,0 1 0,1 1 0,40 3 0,-5 0 0,-47-2 0,1 0 0,-1 1 0,1 1 0,-1-1 0,0 2 0,0 0 0,1 0 0,13 7 0,-10-4 0,0-2 0,24 5 0,-14-3 0,95 11 0,-110-15 0,-1 1 0,1 0 0,-1 1 0,0 1 0,10 5 0,-17-9 0,16 7 0,1-1 0,0 0 0,0-2 0,29 4 0,-19-3 0,-5-2-377,-1-2 0,39-1 1,-59-1 141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9:52:45.497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9320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FutureMe as a conversational career adviser.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2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0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20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0A0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3.xml"/><Relationship Id="rId5" Type="http://schemas.openxmlformats.org/officeDocument/2006/relationships/image" Target="../media/image10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3175000"/>
            <a:ext cx="7003875" cy="199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8200" kern="100" spc="-287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FutureMe Simulator</a:t>
            </a:r>
            <a:endParaRPr lang="en-US" sz="8200" dirty="0"/>
          </a:p>
        </p:txBody>
      </p:sp>
      <p:sp>
        <p:nvSpPr>
          <p:cNvPr id="3" name="Shape 1"/>
          <p:cNvSpPr/>
          <p:nvPr/>
        </p:nvSpPr>
        <p:spPr>
          <a:xfrm>
            <a:off x="765156" y="5437882"/>
            <a:ext cx="2311144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65156" y="6034881"/>
            <a:ext cx="8721744" cy="690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100" spc="-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 Streamlit based career adviser that turns your current situation into branching, data-backed futures. 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EC65C-9CEE-7FE6-2A32-DF071E5D81EF}"/>
              </a:ext>
            </a:extLst>
          </p:cNvPr>
          <p:cNvSpPr txBox="1"/>
          <p:nvPr/>
        </p:nvSpPr>
        <p:spPr>
          <a:xfrm>
            <a:off x="-2218267" y="4114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1A0B55-AC37-5D14-4C3E-408276AC01A7}"/>
              </a:ext>
            </a:extLst>
          </p:cNvPr>
          <p:cNvSpPr/>
          <p:nvPr/>
        </p:nvSpPr>
        <p:spPr>
          <a:xfrm>
            <a:off x="11061700" y="6521450"/>
            <a:ext cx="1073150" cy="292100"/>
          </a:xfrm>
          <a:prstGeom prst="rect">
            <a:avLst/>
          </a:prstGeom>
          <a:solidFill>
            <a:srgbClr val="15021D"/>
          </a:solidFill>
          <a:ln>
            <a:solidFill>
              <a:srgbClr val="11021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Career planning is hard to do alone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40692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212677"/>
            <a:ext cx="5333867" cy="20621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0727" y="2523827"/>
            <a:ext cx="50227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WHO IT IS FOR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20727" y="2792413"/>
            <a:ext cx="47115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New planners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920727" y="3359249"/>
            <a:ext cx="471158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People starting out who need to compare real options.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212677"/>
            <a:ext cx="5333867" cy="2062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59386" y="2523827"/>
            <a:ext cx="5022724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96" dirty="0">
                <a:solidFill>
                  <a:srgbClr val="C4B0B2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WHO IT IS FOR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559386" y="2792413"/>
            <a:ext cx="4711582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Catch-up planners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559386" y="3359249"/>
            <a:ext cx="502272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People keeping pace with fast-moving markets.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09585" y="4452640"/>
            <a:ext cx="10972526" cy="633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5200" kern="100" spc="-182" dirty="0">
                <a:solidFill>
                  <a:srgbClr val="FF5A7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Ask, then see salary and savings</a:t>
            </a:r>
            <a:endParaRPr lang="en-US" sz="5200" dirty="0"/>
          </a:p>
        </p:txBody>
      </p:sp>
      <p:sp>
        <p:nvSpPr>
          <p:cNvPr id="13" name="Text 9"/>
          <p:cNvSpPr/>
          <p:nvPr/>
        </p:nvSpPr>
        <p:spPr>
          <a:xfrm>
            <a:off x="609585" y="5299273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FutureMe is a conversational adviser that projects both.</a:t>
            </a:r>
            <a:endParaRPr lang="en-US" sz="17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D29FD-D854-FF80-5D71-228B99681F44}"/>
              </a:ext>
            </a:extLst>
          </p:cNvPr>
          <p:cNvSpPr/>
          <p:nvPr/>
        </p:nvSpPr>
        <p:spPr>
          <a:xfrm>
            <a:off x="11020789" y="6502998"/>
            <a:ext cx="1122642" cy="345075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1763594-FF6C-8F8E-FA2D-C1BEECE55D21}"/>
                  </a:ext>
                </a:extLst>
              </p14:cNvPr>
              <p14:cNvContentPartPr/>
              <p14:nvPr/>
            </p14:nvContentPartPr>
            <p14:xfrm>
              <a:off x="3746490" y="-203400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1763594-FF6C-8F8E-FA2D-C1BEECE55D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3490" y="-2660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chat-bot adviser on a Streamlit front end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40692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56271"/>
            <a:ext cx="3454314" cy="1903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8179" y="2273498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Google login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38179" y="2840335"/>
            <a:ext cx="322571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OAuth sign-in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1" y="1756271"/>
            <a:ext cx="3454314" cy="19035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7285" y="2122388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Streamlit front end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597285" y="2689225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Chat, sliders, uploads, Plotly charts, pandas tables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1756271"/>
            <a:ext cx="3454314" cy="19035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56391" y="2273498"/>
            <a:ext cx="2997125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Gemini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356391" y="2840335"/>
            <a:ext cx="322571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Generates the predictions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964583"/>
            <a:ext cx="10972526" cy="19035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8179" y="4481810"/>
            <a:ext cx="10515337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MySQL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838179" y="5048647"/>
            <a:ext cx="1074393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Stores users, projections and scenarios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09585" y="6058595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7" dirty="0">
                <a:solidFill>
                  <a:srgbClr val="A89598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Stack: Streamlit, pandas, Plotly, MySQL, Gemini, PyPDF2, python-docx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A5CE93-5DB6-9ECA-1DB3-5E40658A15BE}"/>
              </a:ext>
            </a:extLst>
          </p:cNvPr>
          <p:cNvSpPr/>
          <p:nvPr/>
        </p:nvSpPr>
        <p:spPr>
          <a:xfrm>
            <a:off x="10991913" y="6385322"/>
            <a:ext cx="1180394" cy="390864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06389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Sign in natively or with Google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64618"/>
            <a:ext cx="4063898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585" y="2213967"/>
            <a:ext cx="406389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Username and password login with a Register tab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 OAuth as a second option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Passwords are stored as hashes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Google accounts cannot sign in through the password form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986" y="406399"/>
            <a:ext cx="4808447" cy="266386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698" y="3663950"/>
            <a:ext cx="4808447" cy="26470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E7ACCE-58D8-C4C0-9857-873B7A16AE4F}"/>
              </a:ext>
            </a:extLst>
          </p:cNvPr>
          <p:cNvSpPr/>
          <p:nvPr/>
        </p:nvSpPr>
        <p:spPr>
          <a:xfrm>
            <a:off x="11061701" y="6502400"/>
            <a:ext cx="1073150" cy="304800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486080"/>
            <a:ext cx="7058674" cy="388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24602" y="609600"/>
            <a:ext cx="3657509" cy="137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One chat starts the whole simulation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7924602" y="2322314"/>
            <a:ext cx="3657509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7924602" y="2671663"/>
            <a:ext cx="3657509" cy="192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Describe your situation, or pick a suggestion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Unemployed graduate, corporate role shift, or hobby to career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Sidebar sliders set 2-6 scenarios and 1-10 years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7B7BD3F-9A72-4D94-22D2-271D57626F3B}"/>
                  </a:ext>
                </a:extLst>
              </p14:cNvPr>
              <p14:cNvContentPartPr/>
              <p14:nvPr/>
            </p14:nvContentPartPr>
            <p14:xfrm>
              <a:off x="11123250" y="6529680"/>
              <a:ext cx="923400" cy="227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7B7BD3F-9A72-4D94-22D2-271D57626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60250" y="6467040"/>
                <a:ext cx="10490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A1D10F4-CFC5-075F-8E80-4676872FA6A0}"/>
                  </a:ext>
                </a:extLst>
              </p14:cNvPr>
              <p14:cNvContentPartPr/>
              <p14:nvPr/>
            </p14:nvContentPartPr>
            <p14:xfrm>
              <a:off x="571290" y="-190800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A1D10F4-CFC5-075F-8E80-4676872FA6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8650" y="-2534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Attach a resume, photo or video and Gemini reads 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64618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585" y="2213967"/>
            <a:ext cx="3454314" cy="1937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Uploads accept TXT, CSV, PDF, DOCX, PNG, JPG, WEBP, MP4, MOV and WEBM.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Gemini extracts the profile and the chat asks only for what is still missing.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340" y="2198265"/>
            <a:ext cx="4064109" cy="192144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4301720"/>
            <a:ext cx="4305011" cy="23785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2508A1-6252-524D-0B86-4B4A6E141E7D}"/>
              </a:ext>
            </a:extLst>
          </p:cNvPr>
          <p:cNvSpPr/>
          <p:nvPr/>
        </p:nvSpPr>
        <p:spPr>
          <a:xfrm>
            <a:off x="11042650" y="6534150"/>
            <a:ext cx="1085850" cy="292199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02237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chat is a guided state machine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64618"/>
            <a:ext cx="6502237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09585" y="2213967"/>
            <a:ext cx="434270" cy="381000"/>
          </a:xfrm>
          <a:prstGeom prst="rect">
            <a:avLst/>
          </a:prstGeom>
          <a:solidFill>
            <a:srgbClr val="FFD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09585" y="2213967"/>
            <a:ext cx="10438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9585" y="2681288"/>
            <a:ext cx="1178590" cy="19050"/>
          </a:xfrm>
          <a:prstGeom prst="rect">
            <a:avLst/>
          </a:prstGeom>
          <a:solidFill>
            <a:srgbClr val="FF8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9585" y="2786063"/>
            <a:ext cx="11785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Intake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940472" y="2213967"/>
            <a:ext cx="434270" cy="381000"/>
          </a:xfrm>
          <a:prstGeom prst="rect">
            <a:avLst/>
          </a:prstGeom>
          <a:solidFill>
            <a:srgbClr val="FFD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40472" y="2213967"/>
            <a:ext cx="10438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940472" y="2681288"/>
            <a:ext cx="1178590" cy="19050"/>
          </a:xfrm>
          <a:prstGeom prst="rect">
            <a:avLst/>
          </a:prstGeom>
          <a:solidFill>
            <a:srgbClr val="FF8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940472" y="2786063"/>
            <a:ext cx="11785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Details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271359" y="2213967"/>
            <a:ext cx="434270" cy="381000"/>
          </a:xfrm>
          <a:prstGeom prst="rect">
            <a:avLst/>
          </a:prstGeom>
          <a:solidFill>
            <a:srgbClr val="FFD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71359" y="2213967"/>
            <a:ext cx="10438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271359" y="2681288"/>
            <a:ext cx="1178590" cy="19050"/>
          </a:xfrm>
          <a:prstGeom prst="rect">
            <a:avLst/>
          </a:prstGeom>
          <a:solidFill>
            <a:srgbClr val="FF8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1359" y="2786063"/>
            <a:ext cx="1178590" cy="656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Hobby check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271359" y="3594695"/>
            <a:ext cx="1178590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5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Optional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602246" y="2213967"/>
            <a:ext cx="434270" cy="381000"/>
          </a:xfrm>
          <a:prstGeom prst="rect">
            <a:avLst/>
          </a:prstGeom>
          <a:solidFill>
            <a:srgbClr val="FFD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02246" y="2213967"/>
            <a:ext cx="10438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602246" y="2681288"/>
            <a:ext cx="1178590" cy="19050"/>
          </a:xfrm>
          <a:prstGeom prst="rect">
            <a:avLst/>
          </a:prstGeom>
          <a:solidFill>
            <a:srgbClr val="FF8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02246" y="2786063"/>
            <a:ext cx="1178590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Salary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933133" y="2213967"/>
            <a:ext cx="434270" cy="381000"/>
          </a:xfrm>
          <a:prstGeom prst="rect">
            <a:avLst/>
          </a:prstGeom>
          <a:solidFill>
            <a:srgbClr val="FFD0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33133" y="2213967"/>
            <a:ext cx="104385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000" dirty="0">
                <a:solidFill>
                  <a:srgbClr val="FF8761"/>
                </a:solidFill>
                <a:latin typeface="Heebo SemiBold" pitchFamily="34" charset="0"/>
                <a:ea typeface="Heebo SemiBold" pitchFamily="34" charset="-122"/>
                <a:cs typeface="Heebo SemiBold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5933133" y="2681288"/>
            <a:ext cx="1178689" cy="19050"/>
          </a:xfrm>
          <a:prstGeom prst="rect">
            <a:avLst/>
          </a:prstGeom>
          <a:solidFill>
            <a:srgbClr val="FF8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33133" y="2786063"/>
            <a:ext cx="1178689" cy="328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900" kern="100" spc="-47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Report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32053" y="4081066"/>
            <a:ext cx="5949965" cy="2014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Typing "No idea" for salary is fine. The model falls back to market ranges in INR.</a:t>
            </a:r>
            <a:endParaRPr lang="en-US" sz="17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019" y="3365481"/>
            <a:ext cx="5809820" cy="319250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68AAABB1-2675-857D-1009-384E3D6DEADA}"/>
              </a:ext>
            </a:extLst>
          </p:cNvPr>
          <p:cNvSpPr/>
          <p:nvPr/>
        </p:nvSpPr>
        <p:spPr>
          <a:xfrm>
            <a:off x="11049000" y="6426200"/>
            <a:ext cx="1092200" cy="381000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165523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Gemini generates branching scenarios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962845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585" y="2312194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lighter model parses intake and a larger one writes the report.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804914"/>
            <a:ext cx="5257668" cy="2394843"/>
          </a:xfrm>
          <a:prstGeom prst="rect">
            <a:avLst/>
          </a:prstGeom>
          <a:solidFill>
            <a:srgbClr val="FF8E7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38179" y="3033514"/>
            <a:ext cx="4800480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Your profile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600351"/>
            <a:ext cx="502907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Chosen horizon: 1-10 years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24442" y="2804914"/>
            <a:ext cx="5257668" cy="2394843"/>
          </a:xfrm>
          <a:prstGeom prst="rect">
            <a:avLst/>
          </a:prstGeom>
          <a:solidFill>
            <a:srgbClr val="1F101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53036" y="3033514"/>
            <a:ext cx="4800480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Scenario 1 to 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53036" y="3600351"/>
            <a:ext cx="4800480" cy="137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Role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Risk level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Salary and savings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Benefits and trade-offs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5390257"/>
            <a:ext cx="1158211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Every scenario is forced onto the chosen horizon.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B52775-68FF-06DB-4ABC-B70592ED780B}"/>
              </a:ext>
            </a:extLst>
          </p:cNvPr>
          <p:cNvSpPr/>
          <p:nvPr/>
        </p:nvSpPr>
        <p:spPr>
          <a:xfrm>
            <a:off x="11042650" y="6502400"/>
            <a:ext cx="1092200" cy="302220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06389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report you can decide from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864618"/>
            <a:ext cx="3124215" cy="45719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585" y="2213967"/>
            <a:ext cx="4063898" cy="202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Baseline profile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Scenario cards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Comparison table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Wealth-growth line chart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Verdict: a recommended path and a decision note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900" y="235081"/>
            <a:ext cx="4476750" cy="25798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32D069-FAF3-D551-F68A-82E4F0FAF796}"/>
              </a:ext>
            </a:extLst>
          </p:cNvPr>
          <p:cNvSpPr/>
          <p:nvPr/>
        </p:nvSpPr>
        <p:spPr>
          <a:xfrm>
            <a:off x="11029950" y="6540500"/>
            <a:ext cx="1104900" cy="266700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D29E3-6455-E666-12DA-854869D1A7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383" y="3036722"/>
            <a:ext cx="4157467" cy="35482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9ABAF3-7406-DBE3-9C3E-B1C78060F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6253" y="235081"/>
            <a:ext cx="3200963" cy="28911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5FECD6-550E-1863-B54B-C021A836F7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813" y="4243189"/>
            <a:ext cx="6423287" cy="19089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85" dirty="0">
                <a:solidFill>
                  <a:srgbClr val="FBF3F0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MySQL remembers every simulation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406922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3D2A3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56271"/>
            <a:ext cx="2514537" cy="13516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879" y="1997571"/>
            <a:ext cx="203194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50879" y="2564408"/>
            <a:ext cx="22732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Accounts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14" y="1756271"/>
            <a:ext cx="2514537" cy="135165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0208" y="1997571"/>
            <a:ext cx="203194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profiles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3670208" y="2564408"/>
            <a:ext cx="22732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Belong to a user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1756271"/>
            <a:ext cx="2514537" cy="135165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89538" y="1997571"/>
            <a:ext cx="203194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reports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6489538" y="2564408"/>
            <a:ext cx="22732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One per run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573" y="1756271"/>
            <a:ext cx="2514537" cy="135165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08867" y="1997571"/>
            <a:ext cx="2031949" cy="414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400" kern="100" spc="-60" dirty="0">
                <a:solidFill>
                  <a:srgbClr val="E6D9D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scenarios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9308867" y="2564408"/>
            <a:ext cx="227324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Belong to a report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585" y="3285728"/>
            <a:ext cx="5333867" cy="108704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50879" y="3527028"/>
            <a:ext cx="50925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Each run saves in one transaction</a:t>
            </a:r>
            <a:endParaRPr lang="en-US" sz="17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244" y="3285728"/>
            <a:ext cx="5333867" cy="108704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89538" y="3527028"/>
            <a:ext cx="485127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E6D9D8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History reloads at login and reopens from the sidebar</a:t>
            </a:r>
            <a:endParaRPr lang="en-US" sz="17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396D3E-BE5F-08D6-D4AB-456B1B56A4CD}"/>
              </a:ext>
            </a:extLst>
          </p:cNvPr>
          <p:cNvSpPr/>
          <p:nvPr/>
        </p:nvSpPr>
        <p:spPr>
          <a:xfrm>
            <a:off x="11074400" y="6540500"/>
            <a:ext cx="1060450" cy="270569"/>
          </a:xfrm>
          <a:prstGeom prst="rect">
            <a:avLst/>
          </a:prstGeom>
          <a:solidFill>
            <a:srgbClr val="120A0E"/>
          </a:solidFill>
          <a:ln>
            <a:solidFill>
              <a:srgbClr val="120A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399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Montserrat SemiBold</vt:lpstr>
      <vt:lpstr>Arial</vt:lpstr>
      <vt:lpstr>Heebo</vt:lpstr>
      <vt:lpstr>Heebo SemiBold</vt:lpstr>
      <vt:lpstr>Heebo Medium</vt:lpstr>
      <vt:lpstr>Montserrat Medium</vt:lpstr>
      <vt:lpstr>Heebo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Thatipamula Vishnu Karthikeya</dc:creator>
  <cp:lastModifiedBy>Thatipamula Vishnu Karthikeya</cp:lastModifiedBy>
  <cp:revision>2</cp:revision>
  <dcterms:created xsi:type="dcterms:W3CDTF">2026-10-01T19:05:36Z</dcterms:created>
  <dcterms:modified xsi:type="dcterms:W3CDTF">2026-10-01T20:13:58Z</dcterms:modified>
</cp:coreProperties>
</file>